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8" r:id="rId6"/>
    <p:sldId id="260" r:id="rId7"/>
    <p:sldId id="263" r:id="rId8"/>
    <p:sldId id="262" r:id="rId9"/>
    <p:sldId id="264" r:id="rId10"/>
    <p:sldId id="265" r:id="rId11"/>
    <p:sldId id="266" r:id="rId12"/>
    <p:sldId id="267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0698FD-2A20-4DE1-AC51-EAE3DD52E988}" type="datetimeFigureOut">
              <a:rPr lang="da-DK" smtClean="0"/>
              <a:t>19-08-2026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A3E9E-9EE8-499A-8D7F-5590974CD5B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06300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Intraclass correlation for fosfor vejet 45% for en dag og 71% for 3 dage. For natrium 14 % for 1 dag og 33% for 3 dage.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A3E9E-9EE8-499A-8D7F-5590974CD5BB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57622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57B0C-43D8-2EBA-E28F-C3F955BE7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87A156-435E-883F-73BA-7E26C79746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AF611-E6A0-FED5-BE48-BBEB8CE79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0BF1-CB1A-45F3-B7CD-708B313DB4F6}" type="datetimeFigureOut">
              <a:rPr lang="da-DK" smtClean="0"/>
              <a:t>18-08-2026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BAFD5-503D-8C5B-2255-F5E8B7EC8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5DA43-6DAD-24E9-B877-322847FD2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51EB3-7773-4CAE-9481-15B7ECFED5D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58465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35A4D-8E66-677C-FA0F-BDD62551F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D1C63-31E6-76CE-66CF-8EBEE5148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FCFC4-A965-5257-7E65-AB6CF80F4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0BF1-CB1A-45F3-B7CD-708B313DB4F6}" type="datetimeFigureOut">
              <a:rPr lang="da-DK" smtClean="0"/>
              <a:t>18-08-2026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FE6E5-8B67-590F-3DF7-4C49AC005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DA1C1-CAF3-F34F-32A9-6C86C0E0D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51EB3-7773-4CAE-9481-15B7ECFED5D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85742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F3FBE-421E-D24C-0561-E0170579B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41A75-9F38-2501-8ABA-9CE38C406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53F51-BC44-D791-77C8-596086EFE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0BF1-CB1A-45F3-B7CD-708B313DB4F6}" type="datetimeFigureOut">
              <a:rPr lang="da-DK" smtClean="0"/>
              <a:t>18-08-2026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95BA9-E748-6D2E-628B-3C7B59F42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9022A-DF76-2263-CC97-7EFAF753C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51EB3-7773-4CAE-9481-15B7ECFED5D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92063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346AC-74D8-9512-2046-475CE3480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80F7B-302C-3561-3DA2-701EE4F03C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76CCD4-E08D-6B79-4BDD-EF6B173DF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49D8F-9108-EC14-4235-F2C41EFBB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0BF1-CB1A-45F3-B7CD-708B313DB4F6}" type="datetimeFigureOut">
              <a:rPr lang="da-DK" smtClean="0"/>
              <a:t>18-08-2026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17BAF-3FA3-CBB4-49E5-7E312985D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A193D-F2F9-3569-01CD-7EE1F4397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51EB3-7773-4CAE-9481-15B7ECFED5D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41722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27E65-E673-155B-79CD-D49879ADC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E1B4E-8D3E-57E7-2DD8-9B318F86B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21E1A8-8584-DEF9-5773-75150720B3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4B0749-6278-D8B1-AED5-79C3D38446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F4E764-FF95-3938-667C-13433DB2AE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AA6B71-8776-9A34-F47B-D508811C6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0BF1-CB1A-45F3-B7CD-708B313DB4F6}" type="datetimeFigureOut">
              <a:rPr lang="da-DK" smtClean="0"/>
              <a:t>18-08-2026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EEB075-5AF3-FCEF-49BE-C8A3A1B1F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190F7C-815B-04FD-ADDA-4C048DA4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51EB3-7773-4CAE-9481-15B7ECFED5D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48393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C8D03-6C72-2DE1-418D-05A483B1D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B4CF6E-8544-9EA6-B5CD-8B37840B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0BF1-CB1A-45F3-B7CD-708B313DB4F6}" type="datetimeFigureOut">
              <a:rPr lang="da-DK" smtClean="0"/>
              <a:t>18-08-2026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D116AD-7B4B-6B2D-9AD6-865D9081B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5F29FF-5B90-5EDB-4809-BA3AD4F3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51EB3-7773-4CAE-9481-15B7ECFED5D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60825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E4006D-45A6-E7B4-2961-25809B731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0BF1-CB1A-45F3-B7CD-708B313DB4F6}" type="datetimeFigureOut">
              <a:rPr lang="da-DK" smtClean="0"/>
              <a:t>18-08-2026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1A17E6-80CE-7BA3-BD27-E2830F850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7496A-32BE-076E-DE3F-7C6526063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51EB3-7773-4CAE-9481-15B7ECFED5D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90160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ABE3B-D5D9-E117-28F4-C47835B3A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522CD-B72C-8B1A-09D6-91E6B1FAB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B52E97-F52A-5E94-C5F6-3D9C7EE57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F8FB0-D2EB-5564-E952-E4169E177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0BF1-CB1A-45F3-B7CD-708B313DB4F6}" type="datetimeFigureOut">
              <a:rPr lang="da-DK" smtClean="0"/>
              <a:t>18-08-2026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BD5DE-FC62-C95D-891E-E2C8E3963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433E7-4C7F-80DD-F161-223F0D410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51EB3-7773-4CAE-9481-15B7ECFED5D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85042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39915-D7DC-02D4-024E-49F5AE32A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0468A2-827C-3803-E4CD-00FC5A6E49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83D89C-8196-B474-E911-F3A974A5A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446E3-9EC6-A4AC-6D2A-8C08BF024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0BF1-CB1A-45F3-B7CD-708B313DB4F6}" type="datetimeFigureOut">
              <a:rPr lang="da-DK" smtClean="0"/>
              <a:t>18-08-2026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A7605-E804-83E0-F297-21F4D7B35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E5E54-39A3-EB70-DC7D-FF0A7A3A5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51EB3-7773-4CAE-9481-15B7ECFED5D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52103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01643-DDD5-707A-D2BA-CDDFD6B41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E97B76-598D-C045-4003-96B7A4257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049A7-1286-9DB9-5C85-8A30F4277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0BF1-CB1A-45F3-B7CD-708B313DB4F6}" type="datetimeFigureOut">
              <a:rPr lang="da-DK" smtClean="0"/>
              <a:t>18-08-2026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7D60D-5AF2-E27B-6132-3AA9F525F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58229-862A-13C1-A735-D3091D50A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51EB3-7773-4CAE-9481-15B7ECFED5D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38163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2FFF2F-D57D-BC10-687F-EA676C81A2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0EC73-51E1-050D-F832-6FC44F35A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A9DD5-28D0-EA26-1623-E53AEDF20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0BF1-CB1A-45F3-B7CD-708B313DB4F6}" type="datetimeFigureOut">
              <a:rPr lang="da-DK" smtClean="0"/>
              <a:t>18-08-2026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0ABCB-9538-444B-1828-182E42625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59135-AF55-D60E-6A84-B9B56BAEF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51EB3-7773-4CAE-9481-15B7ECFED5D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59626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F48CEB-2906-92A4-2EA1-95E64C2A1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73E24-9CB2-C513-6E6E-C83F65BB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E0BC8-D511-CEA7-92D8-5198D220A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B50BF1-CB1A-45F3-B7CD-708B313DB4F6}" type="datetimeFigureOut">
              <a:rPr lang="da-DK" smtClean="0"/>
              <a:t>18-08-2026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4FB53-1CCB-8DF9-3C75-0F01476A4D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ABBDA-2940-2443-952B-569B511BB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251EB3-7773-4CAE-9481-15B7ECFED5D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6204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3F870-B5C9-9360-E04F-A4BF3B0405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Speciale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2275DF-F456-D0A6-AB1E-B11E57B8F9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4378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D979C-6D37-94E7-FDDC-B8048DC7A0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Formål med undersøgelsen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08FE28-C425-FF88-23EE-FD9A8D0524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da-DK" dirty="0"/>
              <a:t>Fosfat og kalk balance er aldrig undersøgt hos stadie 4-5.</a:t>
            </a:r>
          </a:p>
          <a:p>
            <a:r>
              <a:rPr lang="da-DK" dirty="0"/>
              <a:t>Kalk anbefalinger er baseret på 2 balance studier med begrænset N.</a:t>
            </a:r>
          </a:p>
          <a:p>
            <a:r>
              <a:rPr lang="da-DK" dirty="0"/>
              <a:t>Der ses et knæk i balancen hos dialyse patienter men vi ved ikke hvornår kostanbefalinger er relevante at sætte ind med. </a:t>
            </a:r>
          </a:p>
          <a:p>
            <a:r>
              <a:rPr lang="da-DK" dirty="0"/>
              <a:t>Calcificationer ses hos nyresyge derfor er det relevant at vide</a:t>
            </a:r>
          </a:p>
          <a:p>
            <a:r>
              <a:rPr lang="da-DK" dirty="0"/>
              <a:t>I klinik er kostindsamling via 24 timer recall. </a:t>
            </a:r>
          </a:p>
          <a:p>
            <a:r>
              <a:rPr lang="da-DK" dirty="0"/>
              <a:t>Noget der kan styrke et recall aldrig undersøgt på fosfat og aldrig holdt op mod vejet metode.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45112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E3EE3-A316-F74A-AB74-DB886E00B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Forskningsspørgsmål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57ABE-E4F7-4E26-CF1F-5924A1ED0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Er der sammenhæng mellem kalk og fosfat balance og kreatinin clearance</a:t>
            </a:r>
          </a:p>
          <a:p>
            <a:r>
              <a:rPr lang="da-DK" dirty="0"/>
              <a:t>Er der sammenhæng mellem vejet og foto metode </a:t>
            </a:r>
          </a:p>
        </p:txBody>
      </p:sp>
    </p:spTree>
    <p:extLst>
      <p:ext uri="{BB962C8B-B14F-4D97-AF65-F5344CB8AC3E}">
        <p14:creationId xmlns:p14="http://schemas.microsoft.com/office/powerpoint/2010/main" val="2120370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D080E-42FB-66C7-48AA-4A49511CB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Studie og population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2E266-C4B7-E815-5A14-2EEE95CF0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Obervationelt kohorte studie (tillægsstudie til en større kohorte)</a:t>
            </a:r>
          </a:p>
          <a:p>
            <a:r>
              <a:rPr lang="da-DK" dirty="0"/>
              <a:t>Stadie 4-5 kronisk nyresygdom (inklusion via eGFR) præ dialyse</a:t>
            </a:r>
          </a:p>
          <a:p>
            <a:r>
              <a:rPr lang="da-DK" dirty="0"/>
              <a:t>Studieforløb</a:t>
            </a:r>
          </a:p>
          <a:p>
            <a:endParaRPr lang="da-DK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45737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6B21D-C955-4E51-682F-0951D8E1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Målemetoder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A2380-636E-505D-8A3D-9D8D9FF6F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Urin blev opsamlet via 24 timers døgnurin</a:t>
            </a:r>
          </a:p>
          <a:p>
            <a:r>
              <a:rPr lang="da-DK" dirty="0"/>
              <a:t>Kostindtag blev estimeret via 3 dages vejet kostregistrering og 24 timers fotometode</a:t>
            </a:r>
          </a:p>
          <a:p>
            <a:r>
              <a:rPr lang="da-DK" dirty="0"/>
              <a:t>Apparant balance for fosfor, calcium of natrium kostindtag-urinudskillelse</a:t>
            </a:r>
          </a:p>
          <a:p>
            <a:r>
              <a:rPr lang="da-DK" dirty="0"/>
              <a:t>Blev  beregnet som en ratio udskillelse/indtag*100</a:t>
            </a:r>
          </a:p>
          <a:p>
            <a:r>
              <a:rPr lang="da-DK" dirty="0"/>
              <a:t>Blev også beregnet som balance (estimeret kostiindtag-urinudskillelse)</a:t>
            </a:r>
          </a:p>
          <a:p>
            <a:r>
              <a:rPr lang="da-DK" dirty="0"/>
              <a:t>Balance og ratio blev korreleret op mod kreatinin clearance</a:t>
            </a:r>
          </a:p>
        </p:txBody>
      </p:sp>
    </p:spTree>
    <p:extLst>
      <p:ext uri="{BB962C8B-B14F-4D97-AF65-F5344CB8AC3E}">
        <p14:creationId xmlns:p14="http://schemas.microsoft.com/office/powerpoint/2010/main" val="290483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B89CB-23CC-5359-EEB2-D2950D310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Statistik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0756B-2286-06EA-0179-B79C57D0A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Korrelationer blev analyseret med spearman rank</a:t>
            </a:r>
          </a:p>
          <a:p>
            <a:r>
              <a:rPr lang="da-DK" dirty="0"/>
              <a:t>Gruppe forskelle blev analyseret med mann whitney</a:t>
            </a:r>
          </a:p>
          <a:p>
            <a:r>
              <a:rPr lang="da-DK" dirty="0"/>
              <a:t>Parret sammenligning blev analyseret via will coxon</a:t>
            </a:r>
          </a:p>
          <a:p>
            <a:r>
              <a:rPr lang="da-DK" dirty="0"/>
              <a:t>Bland altman blev udnyttet til at belyse overensstemmelse mellem metoderne.</a:t>
            </a:r>
          </a:p>
          <a:p>
            <a:r>
              <a:rPr lang="da-DK" dirty="0"/>
              <a:t>Primær analyse complete case</a:t>
            </a:r>
          </a:p>
          <a:p>
            <a:r>
              <a:rPr lang="da-DK" dirty="0"/>
              <a:t>Sensitivitetsanalyse=avaliable case</a:t>
            </a:r>
          </a:p>
          <a:p>
            <a:r>
              <a:rPr lang="da-DK" dirty="0"/>
              <a:t>For metodesammenligning matched!</a:t>
            </a:r>
          </a:p>
        </p:txBody>
      </p:sp>
    </p:spTree>
    <p:extLst>
      <p:ext uri="{BB962C8B-B14F-4D97-AF65-F5344CB8AC3E}">
        <p14:creationId xmlns:p14="http://schemas.microsoft.com/office/powerpoint/2010/main" val="1244019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232E9-2C76-EB86-9A89-FE5813B16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54C8A38-BB6A-DDCF-5697-B752BD9F7DE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28805423"/>
              </p:ext>
            </p:extLst>
          </p:nvPr>
        </p:nvGraphicFramePr>
        <p:xfrm>
          <a:off x="106680" y="2026920"/>
          <a:ext cx="5181600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4172746442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609963015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209889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sz="1400" dirty="0"/>
                        <a:t>Analyse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Vejet kosregistrering N=31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Foto N=31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400" dirty="0"/>
                        <a:t>Fosfor Differens vs clearance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(r=0,02 p=0,90)</a:t>
                      </a:r>
                    </a:p>
                    <a:p>
                      <a:r>
                        <a:rPr lang="da-DK" sz="1400" dirty="0"/>
                        <a:t>95 % CI[-0,38-0,34]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(r= -0,06 p=0,76)</a:t>
                      </a:r>
                    </a:p>
                    <a:p>
                      <a:r>
                        <a:rPr lang="da-DK" sz="1400" dirty="0"/>
                        <a:t>95 % CI[-0,41-0,31]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647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400" dirty="0"/>
                        <a:t>Fosfor ratio vs clearance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(r=0,24 p=0,19)</a:t>
                      </a:r>
                    </a:p>
                    <a:p>
                      <a:r>
                        <a:rPr lang="da-DK" sz="1400" dirty="0"/>
                        <a:t>95 % CI[-0,14-0,6]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dirty="0"/>
                        <a:t>(r=0,3124 p=</a:t>
                      </a:r>
                      <a:r>
                        <a:rPr lang="da-DK" sz="1400" b="1" dirty="0"/>
                        <a:t>0,087</a:t>
                      </a:r>
                      <a:r>
                        <a:rPr lang="da-DK" sz="1400" dirty="0"/>
                        <a:t>) 95 % CI[-0,06-0,61]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97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400" dirty="0"/>
                        <a:t>Calcium differens vs clearance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(r=0,15 p=0,43) </a:t>
                      </a:r>
                    </a:p>
                    <a:p>
                      <a:r>
                        <a:rPr lang="da-DK" sz="1400" dirty="0"/>
                        <a:t>95% CI [-0.23-0.49]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0.12 (p=0,51) </a:t>
                      </a:r>
                    </a:p>
                    <a:p>
                      <a:r>
                        <a:rPr lang="da-DK" sz="1400" dirty="0"/>
                        <a:t>95% CI [-0.25-0.47]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981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400" dirty="0"/>
                        <a:t>Calcium ratio vs clearance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dirty="0"/>
                        <a:t>(r=0,16 p=0,40)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dirty="0"/>
                        <a:t>(r=0,13 p=0,5)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75845"/>
                  </a:ext>
                </a:extLst>
              </a:tr>
            </a:tbl>
          </a:graphicData>
        </a:graphic>
      </p:graphicFrame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29E0AE6-2B43-8A43-E7B7-3D1B01006BB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034352"/>
            <a:ext cx="5181600" cy="393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428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14400-DC07-A32F-C76F-6AA3276A6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8B95A15-A876-628E-8C21-6338853405A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43233424"/>
              </p:ext>
            </p:extLst>
          </p:nvPr>
        </p:nvGraphicFramePr>
        <p:xfrm>
          <a:off x="66922" y="1928991"/>
          <a:ext cx="5777286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762">
                  <a:extLst>
                    <a:ext uri="{9D8B030D-6E8A-4147-A177-3AD203B41FA5}">
                      <a16:colId xmlns:a16="http://schemas.microsoft.com/office/drawing/2014/main" val="420601832"/>
                    </a:ext>
                  </a:extLst>
                </a:gridCol>
                <a:gridCol w="1925762">
                  <a:extLst>
                    <a:ext uri="{9D8B030D-6E8A-4147-A177-3AD203B41FA5}">
                      <a16:colId xmlns:a16="http://schemas.microsoft.com/office/drawing/2014/main" val="1351484732"/>
                    </a:ext>
                  </a:extLst>
                </a:gridCol>
                <a:gridCol w="1925762">
                  <a:extLst>
                    <a:ext uri="{9D8B030D-6E8A-4147-A177-3AD203B41FA5}">
                      <a16:colId xmlns:a16="http://schemas.microsoft.com/office/drawing/2014/main" val="37039730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sz="1400" dirty="0"/>
                        <a:t>Analyse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Vejet metode n=30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Foto metode n=30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419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400" dirty="0"/>
                        <a:t>Natrium differens vs clearance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b="1" dirty="0"/>
                        <a:t>r= -0,3188 p=0,089)</a:t>
                      </a:r>
                    </a:p>
                    <a:p>
                      <a:r>
                        <a:rPr lang="da-DK" sz="1400" b="1" dirty="0"/>
                        <a:t>[-0,61;-0,06]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b="1" dirty="0"/>
                        <a:t>r= -0,4726 p=0,0084** </a:t>
                      </a:r>
                    </a:p>
                    <a:p>
                      <a:r>
                        <a:rPr lang="da-DK" sz="1400" b="1" dirty="0"/>
                        <a:t>CI[-0,72;-0,12]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57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400" dirty="0"/>
                        <a:t>Natrium ratio vs clearance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(r=0,16 p=0,30) </a:t>
                      </a:r>
                    </a:p>
                    <a:p>
                      <a:r>
                        <a:rPr lang="da-DK" sz="1400" dirty="0"/>
                        <a:t>CI[-0,22; 0,5]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r=0,30 p=0,10</a:t>
                      </a:r>
                    </a:p>
                    <a:p>
                      <a:r>
                        <a:rPr lang="da-DK" sz="1400" dirty="0"/>
                        <a:t>CI[-0,08; 0,6]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420712"/>
                  </a:ext>
                </a:extLst>
              </a:tr>
              <a:tr h="766500">
                <a:tc>
                  <a:txBody>
                    <a:bodyPr/>
                    <a:lstStyle/>
                    <a:p>
                      <a:r>
                        <a:rPr lang="da-DK" sz="1400" dirty="0"/>
                        <a:t>Subgruppe differens</a:t>
                      </a:r>
                    </a:p>
                    <a:p>
                      <a:r>
                        <a:rPr lang="da-DK" sz="1400" dirty="0"/>
                        <a:t>&lt;20 ml/min n=8 vs</a:t>
                      </a:r>
                    </a:p>
                    <a:p>
                      <a:r>
                        <a:rPr lang="da-DK" sz="1400" dirty="0"/>
                        <a:t>&gt;20ml/min n=22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  <a:p>
                      <a:endParaRPr lang="da-DK" sz="1400" dirty="0"/>
                    </a:p>
                    <a:p>
                      <a:r>
                        <a:rPr lang="da-DK" sz="1400" dirty="0"/>
                        <a:t>Median + 57 mg</a:t>
                      </a:r>
                    </a:p>
                    <a:p>
                      <a:r>
                        <a:rPr lang="da-DK" sz="1400" dirty="0"/>
                        <a:t>Median -554 mg</a:t>
                      </a:r>
                    </a:p>
                    <a:p>
                      <a:r>
                        <a:rPr lang="da-DK" sz="1400" b="1" dirty="0"/>
                        <a:t>P=0,0179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  <a:p>
                      <a:endParaRPr lang="da-DK" sz="1400" dirty="0"/>
                    </a:p>
                    <a:p>
                      <a:r>
                        <a:rPr lang="da-DK" sz="1400" dirty="0"/>
                        <a:t>Median +425 mg</a:t>
                      </a:r>
                    </a:p>
                    <a:p>
                      <a:r>
                        <a:rPr lang="da-DK" sz="1400" dirty="0"/>
                        <a:t>Median -930 mg</a:t>
                      </a:r>
                    </a:p>
                    <a:p>
                      <a:r>
                        <a:rPr lang="da-DK" sz="1400" b="1" dirty="0"/>
                        <a:t>P=0,008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268748"/>
                  </a:ext>
                </a:extLst>
              </a:tr>
            </a:tbl>
          </a:graphicData>
        </a:graphic>
      </p:graphicFrame>
      <p:pic>
        <p:nvPicPr>
          <p:cNvPr id="7" name="Content Placeholder 6" descr="The diagram illustrates the sodium balance in relation to urine clearance rates, showing a comparison between clearance rates below and above 20 mL/min.&#10;&#10;AI-generated content may be incorrect.">
            <a:extLst>
              <a:ext uri="{FF2B5EF4-FFF2-40B4-BE49-F238E27FC236}">
                <a16:creationId xmlns:a16="http://schemas.microsoft.com/office/drawing/2014/main" id="{2C5B00A7-9E77-07B9-C8F8-0CE7FDBCC6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5625"/>
            <a:ext cx="5055042" cy="370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79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78FA5-E413-C71E-7ED2-F4EAE6AF4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3321A5-9BE0-04E2-8756-0AA5CDDA85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7981653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93944282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3576042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45145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7481956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688409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sz="1400" dirty="0"/>
                        <a:t>Næringsstof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Vejet metode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Foto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Spearman RHO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Wilcoxon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820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Median [IQR]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Median [IQR]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Metode korrelation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Forskel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133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400" dirty="0"/>
                        <a:t>Calcium (mg)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771 [344-1891]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587 [192-1494]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r=0.90, p=&lt;0,0001****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P=&lt;0,0001****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730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400" dirty="0"/>
                        <a:t>Natrium (mg)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2010 [412-5520]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1806 [464-4400]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r=8153 p=&lt;0,0001****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p=0,0930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310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400" dirty="0"/>
                        <a:t>Protein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59,65[27,3-101]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53,35[14,1-97,9]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r=0,8 p=&lt;0,0001****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P=0,019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7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400" dirty="0"/>
                        <a:t>Fosfor (mg)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1085 [519-1654]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1058 [306-1628]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r=0,71 p=&lt;0,0001****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p=0,087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029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873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2E272-287C-DCD9-8366-889C61B7A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EFE5F27-B388-B659-3F3E-1D7DC6F83FD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53004310"/>
              </p:ext>
            </p:extLst>
          </p:nvPr>
        </p:nvGraphicFramePr>
        <p:xfrm>
          <a:off x="838200" y="1825625"/>
          <a:ext cx="5181600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2597404252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3050306486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975517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Valideringsparameter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Vejet metode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Foto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2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Spearman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Spearman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4732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Protein indtag vs urea</a:t>
                      </a:r>
                    </a:p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r= 0,68 p=&lt;0,0001****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r=0,43</a:t>
                      </a:r>
                    </a:p>
                    <a:p>
                      <a:r>
                        <a:rPr lang="da-DK" dirty="0"/>
                        <a:t>p=0,016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550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Natrium indtag vs udskillelse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r=0,51 </a:t>
                      </a:r>
                    </a:p>
                    <a:p>
                      <a:r>
                        <a:rPr lang="da-DK" dirty="0"/>
                        <a:t>p=0,004 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r=0,43</a:t>
                      </a:r>
                    </a:p>
                    <a:p>
                      <a:r>
                        <a:rPr lang="da-DK" dirty="0"/>
                        <a:t>p=0,017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104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Fosfor indtag vs udskillelse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r=0,61</a:t>
                      </a:r>
                    </a:p>
                    <a:p>
                      <a:r>
                        <a:rPr lang="da-DK" dirty="0"/>
                        <a:t>p=0,0003 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r=0,35</a:t>
                      </a:r>
                    </a:p>
                    <a:p>
                      <a:r>
                        <a:rPr lang="da-DK" dirty="0"/>
                        <a:t>p=0,058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856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Calcium indtag vs udskillelse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r=-0,07</a:t>
                      </a:r>
                    </a:p>
                    <a:p>
                      <a:r>
                        <a:rPr lang="da-DK" dirty="0"/>
                        <a:t>p=0,71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r=-0,07</a:t>
                      </a:r>
                    </a:p>
                    <a:p>
                      <a:r>
                        <a:rPr lang="da-DK" dirty="0"/>
                        <a:t>p=0,71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568065"/>
                  </a:ext>
                </a:extLst>
              </a:tr>
            </a:tbl>
          </a:graphicData>
        </a:graphic>
      </p:graphicFrame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53D434C-AFF7-A392-A219-AB591A4953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984869"/>
            <a:ext cx="5181600" cy="403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75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CBAD3-C3FE-46B7-C474-6CABF4690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896BFD6-45B9-1542-85DE-F398CEFA74E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36927362"/>
              </p:ext>
            </p:extLst>
          </p:nvPr>
        </p:nvGraphicFramePr>
        <p:xfrm>
          <a:off x="838200" y="1825625"/>
          <a:ext cx="5181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1518694484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3658073477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31270406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sz="1400" dirty="0"/>
                        <a:t>Calcium n=30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Vejet vs foto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Willcoxon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970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400" dirty="0"/>
                        <a:t>Med vand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Median 771 vs 587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p=&lt;0,0001****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234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400" dirty="0"/>
                        <a:t>Uden vand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Median: 574 vs 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p=0,7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250457"/>
                  </a:ext>
                </a:extLst>
              </a:tr>
            </a:tbl>
          </a:graphicData>
        </a:graphic>
      </p:graphicFrame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3D07128-1E49-33DE-699F-44A79FDFB0C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9800" y="1869495"/>
            <a:ext cx="5496516" cy="25865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E45835-1074-20FE-D0CD-7E997789CE82}"/>
              </a:ext>
            </a:extLst>
          </p:cNvPr>
          <p:cNvSpPr txBox="1"/>
          <p:nvPr/>
        </p:nvSpPr>
        <p:spPr>
          <a:xfrm>
            <a:off x="6690598" y="5104737"/>
            <a:ext cx="1702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Bias: -138,4 mg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60D071-4FB1-A85F-C76B-C5DE243E30BB}"/>
              </a:ext>
            </a:extLst>
          </p:cNvPr>
          <p:cNvSpPr txBox="1"/>
          <p:nvPr/>
        </p:nvSpPr>
        <p:spPr>
          <a:xfrm>
            <a:off x="6690598" y="5573865"/>
            <a:ext cx="415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95% Limit of agreements -490 to 213 mg</a:t>
            </a:r>
          </a:p>
        </p:txBody>
      </p:sp>
    </p:spTree>
    <p:extLst>
      <p:ext uri="{BB962C8B-B14F-4D97-AF65-F5344CB8AC3E}">
        <p14:creationId xmlns:p14="http://schemas.microsoft.com/office/powerpoint/2010/main" val="3684104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D3C6E-9CBC-E132-427C-F7CBC8EC6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Overvejelser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7A83F-7568-75D1-F873-4EDBD8648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a-DK" dirty="0"/>
              <a:t>Fosfor ratio korrelation blev kun fundet  ved foto metode</a:t>
            </a:r>
          </a:p>
          <a:p>
            <a:pPr marL="0" indent="0">
              <a:buNone/>
            </a:pPr>
            <a:r>
              <a:rPr lang="da-DK" dirty="0"/>
              <a:t>Mangel på power</a:t>
            </a:r>
          </a:p>
          <a:p>
            <a:pPr marL="0" indent="0">
              <a:buNone/>
            </a:pPr>
            <a:r>
              <a:rPr lang="da-DK" dirty="0"/>
              <a:t>For smalt clearance spænd</a:t>
            </a:r>
          </a:p>
          <a:p>
            <a:pPr marL="0" indent="0">
              <a:buNone/>
            </a:pPr>
            <a:r>
              <a:rPr lang="da-DK" dirty="0"/>
              <a:t>Natrium retention på trods af mangel registrering af tilsat salt</a:t>
            </a:r>
          </a:p>
          <a:p>
            <a:pPr marL="0" indent="0">
              <a:buNone/>
            </a:pPr>
            <a:r>
              <a:rPr lang="da-DK" dirty="0"/>
              <a:t>Flere dages urinprøver</a:t>
            </a:r>
          </a:p>
          <a:p>
            <a:pPr marL="0" indent="0">
              <a:buNone/>
            </a:pPr>
            <a:r>
              <a:rPr lang="da-DK" dirty="0"/>
              <a:t>Calcium balance er ikke brugbar uden fæces</a:t>
            </a:r>
          </a:p>
          <a:p>
            <a:pPr marL="0" indent="0">
              <a:buNone/>
            </a:pPr>
            <a:r>
              <a:rPr lang="da-DK" dirty="0"/>
              <a:t>Fotometode anvendelig på gruppeniveau men ikke individniveau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913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CE26B-CD08-252E-CAF7-229A7BF26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Styrker og svagheder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3BF3D-CA64-E5E3-F63A-FDD985BCF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Styrker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9D7B0A-F3FD-85EE-50DE-BA7B270FF6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a-DK" dirty="0"/>
              <a:t>Mulighed for at validere fotometode imod 3 dages vejet kostregistrering</a:t>
            </a:r>
          </a:p>
          <a:p>
            <a:r>
              <a:rPr lang="da-DK" dirty="0"/>
              <a:t>Validering af metoder mod urin markører.</a:t>
            </a:r>
          </a:p>
          <a:p>
            <a:r>
              <a:rPr lang="da-DK" dirty="0"/>
              <a:t>Høj compliance</a:t>
            </a:r>
          </a:p>
          <a:p>
            <a:r>
              <a:rPr lang="da-DK" dirty="0"/>
              <a:t>Undersøgelse af balance med to metoder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31D3A0-A859-1122-A8B1-47AF71982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a-DK" dirty="0"/>
              <a:t>Svagheder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EF9699-A95C-73DF-3FF2-242F598B2F4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a-DK" dirty="0"/>
              <a:t>Mangel på registrering af bordsalt</a:t>
            </a:r>
          </a:p>
          <a:p>
            <a:r>
              <a:rPr lang="da-DK" dirty="0"/>
              <a:t>Enkelt diætist der har vurderet vejet kostregistrering og fotos</a:t>
            </a:r>
          </a:p>
          <a:p>
            <a:r>
              <a:rPr lang="da-DK" dirty="0"/>
              <a:t>Kun et enkelt opfølgningsmøde så begrænset oplæring.</a:t>
            </a:r>
          </a:p>
          <a:p>
            <a:r>
              <a:rPr lang="da-DK" dirty="0"/>
              <a:t>Ingen klassificering af diuretika</a:t>
            </a:r>
          </a:p>
          <a:p>
            <a:pPr marL="0" indent="0">
              <a:buNone/>
            </a:pPr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37568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C1ACB-06A8-5F49-FC18-DD288547E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Konklusion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6FDD8-2F2B-D372-4DC5-128B97BAB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Natrium balance var signifikant højere i gruppen under 20 clearance i forhold til over.</a:t>
            </a:r>
          </a:p>
          <a:p>
            <a:r>
              <a:rPr lang="da-DK" dirty="0"/>
              <a:t>Resultaterne kunne hverken bekræfte eller afkræfte positiv fosfor balance</a:t>
            </a:r>
          </a:p>
          <a:p>
            <a:r>
              <a:rPr lang="da-DK" dirty="0"/>
              <a:t>Foto</a:t>
            </a:r>
          </a:p>
        </p:txBody>
      </p:sp>
    </p:spTree>
    <p:extLst>
      <p:ext uri="{BB962C8B-B14F-4D97-AF65-F5344CB8AC3E}">
        <p14:creationId xmlns:p14="http://schemas.microsoft.com/office/powerpoint/2010/main" val="1712506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89171-E010-4682-6282-21ABBADE5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Perspektivering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68317-13F4-8287-A1FB-54C12F76F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Anledning til undersøgelse af fotometode</a:t>
            </a:r>
          </a:p>
        </p:txBody>
      </p:sp>
    </p:spTree>
    <p:extLst>
      <p:ext uri="{BB962C8B-B14F-4D97-AF65-F5344CB8AC3E}">
        <p14:creationId xmlns:p14="http://schemas.microsoft.com/office/powerpoint/2010/main" val="496540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1274</TotalTime>
  <Words>854</Words>
  <Application>Microsoft Office PowerPoint</Application>
  <PresentationFormat>Widescreen</PresentationFormat>
  <Paragraphs>170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Speciale</vt:lpstr>
      <vt:lpstr>Formål med undersøgelsen</vt:lpstr>
      <vt:lpstr>Forskningsspørgsmål</vt:lpstr>
      <vt:lpstr>Studie og population</vt:lpstr>
      <vt:lpstr>Målemetoder</vt:lpstr>
      <vt:lpstr>Statistik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Overvejelser</vt:lpstr>
      <vt:lpstr>Styrker og svagheder</vt:lpstr>
      <vt:lpstr>Konklusion</vt:lpstr>
      <vt:lpstr>Perspektivering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askoe</dc:creator>
  <cp:lastModifiedBy>julian askoe</cp:lastModifiedBy>
  <cp:revision>3</cp:revision>
  <dcterms:created xsi:type="dcterms:W3CDTF">2026-08-18T14:58:34Z</dcterms:created>
  <dcterms:modified xsi:type="dcterms:W3CDTF">2026-08-19T12:13:10Z</dcterms:modified>
</cp:coreProperties>
</file>